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0" y="0"/>
            <a:ext cx="54864" cy="68580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1097280"/>
            <a:ext cx="4114800" cy="4114800"/>
          </a:xfrm>
          <a:prstGeom prst="ellipse">
            <a:avLst/>
          </a:prstGeom>
          <a:solidFill>
            <a:srgbClr val="0070C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46520" y="1371600"/>
            <a:ext cx="3657600" cy="3657600"/>
          </a:xfrm>
          <a:prstGeom prst="ellipse">
            <a:avLst/>
          </a:prstGeom>
          <a:solidFill>
            <a:srgbClr val="0070C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1645920"/>
            <a:ext cx="3200400" cy="3200400"/>
          </a:xfrm>
          <a:prstGeom prst="ellipse">
            <a:avLst/>
          </a:prstGeom>
          <a:solidFill>
            <a:srgbClr val="0070C0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52360" y="1920240"/>
            <a:ext cx="2743200" cy="2743200"/>
          </a:xfrm>
          <a:prstGeom prst="ellipse">
            <a:avLst/>
          </a:prstGeom>
          <a:solidFill>
            <a:srgbClr val="0070C0">
              <a:alpha val="3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2194560"/>
            <a:ext cx="2286000" cy="2286000"/>
          </a:xfrm>
          <a:prstGeom prst="ellipse">
            <a:avLst/>
          </a:prstGeom>
          <a:solidFill>
            <a:srgbClr val="0070C0">
              <a:alpha val="4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58200" y="2468880"/>
            <a:ext cx="1828800" cy="1828800"/>
          </a:xfrm>
          <a:prstGeom prst="ellipse">
            <a:avLst/>
          </a:prstGeom>
          <a:solidFill>
            <a:srgbClr val="0070C0">
              <a:alpha val="5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3657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0" y="10972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8288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20640" y="256032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329184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0233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0" y="47548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120640" y="54864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3657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0972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18288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256032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92240" y="329184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40233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47548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54864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0" y="3657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0" y="10972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0" y="18288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0" y="256032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0" y="329184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863840" y="40233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0" y="47548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863840" y="54864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235440" y="3657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235440" y="10972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235440" y="18288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235440" y="256032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9235440" y="329184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235440" y="40233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235440" y="47548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235440" y="54864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607040" y="3657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607040" y="10972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607040" y="18288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607040" y="256032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07040" y="329184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607040" y="402336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607040" y="475488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607040" y="5486400"/>
            <a:ext cx="45720" cy="45720"/>
          </a:xfrm>
          <a:prstGeom prst="rect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10972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MARTINGALES</a:t>
            </a:r>
            <a:endParaRPr lang="en-US" sz="3600" dirty="0"/>
          </a:p>
        </p:txBody>
      </p:sp>
      <p:sp>
        <p:nvSpPr>
          <p:cNvPr id="51" name="Text 49"/>
          <p:cNvSpPr/>
          <p:nvPr/>
        </p:nvSpPr>
        <p:spPr>
          <a:xfrm>
            <a:off x="45720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0DC"/>
                </a:solidFill>
              </a:rPr>
              <a:t>Theory, Computation &amp; Quantitative Finance Applications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7200" y="4526280"/>
            <a:ext cx="18288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CE"/>
                </a:solidFill>
              </a:rPr>
              <a:t>Quantitative Research Division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5720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March 2025  |  Version 2.0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3108960"/>
            <a:ext cx="2011680" cy="1097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0DC"/>
                </a:solidFill>
              </a:rPr>
              <a:t>6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731520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Stochastic Models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509760" y="3108960"/>
            <a:ext cx="2011680" cy="1097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0DC"/>
                </a:solidFill>
              </a:rPr>
              <a:t>3</a:t>
            </a:r>
            <a:endParaRPr lang="en-US" sz="4000" dirty="0"/>
          </a:p>
        </p:txBody>
      </p:sp>
      <p:sp>
        <p:nvSpPr>
          <p:cNvPr id="60" name="Text 58"/>
          <p:cNvSpPr/>
          <p:nvPr/>
        </p:nvSpPr>
        <p:spPr>
          <a:xfrm>
            <a:off x="960120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Pricing Algorithms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223760" y="4480560"/>
            <a:ext cx="2011680" cy="1097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315200" y="4572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0DC"/>
                </a:solidFill>
              </a:rPr>
              <a:t>&lt;5ms</a:t>
            </a:r>
            <a:endParaRPr lang="en-US" sz="4000" dirty="0"/>
          </a:p>
        </p:txBody>
      </p:sp>
      <p:sp>
        <p:nvSpPr>
          <p:cNvPr id="63" name="Text 61"/>
          <p:cNvSpPr/>
          <p:nvPr/>
        </p:nvSpPr>
        <p:spPr>
          <a:xfrm>
            <a:off x="7315200" y="5166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Full Surface Reprice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509760" y="4480560"/>
            <a:ext cx="2011680" cy="1097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9601200" y="4572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0DC"/>
                </a:solidFill>
              </a:rPr>
              <a:t>~4bps</a:t>
            </a:r>
            <a:endParaRPr lang="en-US" sz="4000" dirty="0"/>
          </a:p>
        </p:txBody>
      </p:sp>
      <p:sp>
        <p:nvSpPr>
          <p:cNvPr id="66" name="Text 64"/>
          <p:cNvSpPr/>
          <p:nvPr/>
        </p:nvSpPr>
        <p:spPr>
          <a:xfrm>
            <a:off x="9601200" y="5166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Heston Cal. RMSE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Martingale Imperative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Why characteristic functions are the natural language of risk-neutral pricing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Lévy-Khintchine Theory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963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The canonical decomposition connecting martingales to Fourier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474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Fourier Pricing Algorithms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730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Carr-Madan FFT, COS method, and Lewis formula — theory and complexity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4709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Zoo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965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BSM, Heston, VG, CGMY, NIG, and Merton — a unified characteristic function 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005840"/>
            <a:ext cx="502920" cy="50292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1005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Volatility Surface Calibration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95160" y="12618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Vega-weighted objective, global/local optimization, accuracy benchmarks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240280"/>
            <a:ext cx="502920" cy="50292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Analytics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4963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CVaR, VaR, and Greeks via Fourier inversion — no Monte Carlo needed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474720"/>
            <a:ext cx="502920" cy="50292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3474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Trading Applications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95160" y="3730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Real-time surface maintenance, vol arb, jump detection, signal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MARTINGALE IMPERATIVE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Fourier transform is the natural language of risk-neutral pricing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DC"/>
                </a:solidFill>
              </a:rPr>
              <a:t>The Risk-Neutral Constraint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CE"/>
                </a:solidFill>
              </a:rPr>
              <a:t>Under measure Q, discounted asset prices must be martingales: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486400" cy="59436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645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E^Q [ e^{-rT} S_T | F_0 ] = e^{-qT} S_0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0DC"/>
                </a:solidFill>
              </a:rPr>
              <a:t>The CF Martingale Condition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CE"/>
                </a:solidFill>
              </a:rPr>
              <a:t>Evaluating the characteristic function at u = -i: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486400" cy="59436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63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φ(-i) = exp((r - q) · T)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CE"/>
                </a:solidFill>
              </a:rPr>
              <a:t>This single identity — evaluated at u = -i in the complex plane — is necessary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FCE"/>
                </a:solidFill>
              </a:rPr>
              <a:t>sufficient for risk-neutral consistency. We verify it for every model at initialization.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005840"/>
            <a:ext cx="5120640" cy="14630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1005840"/>
            <a:ext cx="45720" cy="146304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11556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Often Intractable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1408176"/>
            <a:ext cx="4892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Heston, VG, CGMY densities have no closed form. Direct integration is impossible.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651760"/>
            <a:ext cx="5120640" cy="14630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2651760"/>
            <a:ext cx="45720" cy="1463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761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Always Available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3054096"/>
            <a:ext cx="4892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model's CF is a closed-form expression. It is the fundamental object.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4297680"/>
            <a:ext cx="5120640" cy="14630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4297680"/>
            <a:ext cx="45720" cy="1463040"/>
          </a:xfrm>
          <a:prstGeom prst="rect">
            <a:avLst/>
          </a:prstGeom>
          <a:solidFill>
            <a:srgbClr val="00A0DC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4074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Bridges the Gap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4700016"/>
            <a:ext cx="4892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Carr-Madan: compute prices from CF without ever computing the density.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Insight: The set of all valid risk-neutral models is exactly the set of characteristic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functions satisfying φ(-i) = e^{(r-q)T}. Fourier analysis turns this abstract condition into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computable constraint.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LÉVY-KHINTCHINE THEOREM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6012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</a:rPr>
              <a:t>The Canonical Decomposition: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Ψ(u) = iub  −  ½u²σ²  +  ∫ (e^{iux} − 1 − iux·1_{|x|&lt;1}) ν(dx)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926080" cy="34747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2926080" cy="5486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iub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0DC"/>
                </a:solidFill>
              </a:rPr>
              <a:t>Drift Term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2377440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Deterministic linear drift; absorbed into (r-q) under Q-measure after martingale correction.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0" y="1920240"/>
            <a:ext cx="2926080" cy="34747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0" y="1920240"/>
            <a:ext cx="2926080" cy="5486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−½u²σ²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0DC"/>
                </a:solidFill>
              </a:rPr>
              <a:t>Gaussian Component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0" y="3566160"/>
            <a:ext cx="2377440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3749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Brownian motion contribution. σ=0 for pure-jump Lévy models (VG, NIG, CGMY). Present in BSM, Heston, MJD.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1920240"/>
            <a:ext cx="2926080" cy="34747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920240"/>
            <a:ext cx="2926080" cy="5486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194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∫ν(dx)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0DC"/>
                </a:solidFill>
              </a:rPr>
              <a:t>Jump Measure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0" y="3566160"/>
            <a:ext cx="2377440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3749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Jump structure encoded in the Lévy measure ν. Different ν choices define the entire model zoo.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058400" y="2377440"/>
            <a:ext cx="2057400" cy="420624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27" name="Text 25"/>
          <p:cNvSpPr/>
          <p:nvPr/>
        </p:nvSpPr>
        <p:spPr>
          <a:xfrm>
            <a:off x="10104120" y="23774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BSM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237744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ν ≡ 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58400" y="2852928"/>
            <a:ext cx="2057400" cy="42062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4120" y="28529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Heston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0" y="285292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SV (not Lévy)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58400" y="3328416"/>
            <a:ext cx="2057400" cy="420624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33" name="Text 31"/>
          <p:cNvSpPr/>
          <p:nvPr/>
        </p:nvSpPr>
        <p:spPr>
          <a:xfrm>
            <a:off x="10104120" y="33284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VG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332841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Exp. decay / |x|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058400" y="3803904"/>
            <a:ext cx="2057400" cy="42062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6" name="Text 34"/>
          <p:cNvSpPr/>
          <p:nvPr/>
        </p:nvSpPr>
        <p:spPr>
          <a:xfrm>
            <a:off x="10104120" y="38039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CGMY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72800" y="380390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Power × Exp.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58400" y="4279392"/>
            <a:ext cx="2057400" cy="420624"/>
          </a:xfrm>
          <a:prstGeom prst="rect">
            <a:avLst/>
          </a:prstGeom>
          <a:solidFill>
            <a:srgbClr val="0D1B35"/>
          </a:solidFill>
          <a:ln/>
        </p:spPr>
      </p:sp>
      <p:sp>
        <p:nvSpPr>
          <p:cNvPr id="39" name="Text 37"/>
          <p:cNvSpPr/>
          <p:nvPr/>
        </p:nvSpPr>
        <p:spPr>
          <a:xfrm>
            <a:off x="10104120" y="42793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NIG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72800" y="427939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Bessel × Exp.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058400" y="4754880"/>
            <a:ext cx="2057400" cy="42062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2" name="Text 40"/>
          <p:cNvSpPr/>
          <p:nvPr/>
        </p:nvSpPr>
        <p:spPr>
          <a:xfrm>
            <a:off x="10104120" y="47548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MJD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0" y="475488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Point masses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PRICING ALGORITHMS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47120" cy="16916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169164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33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Carr-Madan FFT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5176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1999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441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C(k) = e^{−αk}/π · Re[∫₀^∞ e^{−ivk} · Ψ_T(v) dv]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Best For: Full surface, all strikes at once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Complexity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O(N log 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1540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Accuracy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1540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O(N⁻²)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33272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N Needed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3327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4096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11247120" cy="16916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1691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COS Method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65176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2008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2186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= e^{−rT}·F·Σ' Aₖ·Vₖ(a,b,log(K/F))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Best For: Smooth densities (BSM, Heston, VG)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Complexity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O(N)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154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1540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Exponential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327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N Needed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3272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128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11247120" cy="16916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709160"/>
            <a:ext cx="54864" cy="1691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782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Lewis Formula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65176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2001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0932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 = S·e^{−qT} − (K·e^{−rT}/2π)·∫ e^{−iv·log(K/F)} · φ(v−i/2)/(v²+¼) dv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035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Best For: Validation &amp; exotic models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Complexity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0" y="5440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O(N)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1540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Accuracy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15400" y="5440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O(N⁻⁴)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332720" y="5166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N Needed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32720" y="5440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1000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ZOO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models, one pricing interface — all sharing the Fourier pricing kernel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566160" cy="2240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3566160" cy="54864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069848"/>
            <a:ext cx="502920" cy="502920"/>
          </a:xfrm>
          <a:prstGeom prst="ellipse">
            <a:avLst/>
          </a:prstGeom>
          <a:solidFill>
            <a:srgbClr val="A8BFC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BSM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Diffusion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618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Baseline. Log-normal, no smile.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148840"/>
            <a:ext cx="3346704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Params: σ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StochVol: 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Skew: 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8600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Kurt: 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0" y="960120"/>
            <a:ext cx="3566160" cy="2240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97680" y="960120"/>
            <a:ext cx="3566160" cy="5486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069848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SV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07408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Heston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07408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C0"/>
                </a:solidFill>
              </a:rPr>
              <a:t>Stoch. Vol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07408" y="1618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Mean-reverting variance. Market standard.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07408" y="2148840"/>
            <a:ext cx="3346704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6" name="Text 24"/>
          <p:cNvSpPr/>
          <p:nvPr/>
        </p:nvSpPr>
        <p:spPr>
          <a:xfrm>
            <a:off x="4407408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Params: v₀,κ,θ,ξ,ρ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StochVol: ✓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07408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Skew: 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Kurt: Mild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138160" y="960120"/>
            <a:ext cx="3566160" cy="2240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960120"/>
            <a:ext cx="35661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0" y="106984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3" name="Text 31"/>
          <p:cNvSpPr/>
          <p:nvPr/>
        </p:nvSpPr>
        <p:spPr>
          <a:xfrm>
            <a:off x="1106424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VG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47888" y="1069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Variance Gamma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47888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Lévy Jump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47888" y="16184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Brownian motion on Gamma time. Fin. variation.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247888" y="2148840"/>
            <a:ext cx="3346704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8" name="Text 36"/>
          <p:cNvSpPr/>
          <p:nvPr/>
        </p:nvSpPr>
        <p:spPr>
          <a:xfrm>
            <a:off x="8247888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Params: σ,ν,θ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96696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StochVol: ❌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47888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Skew: ✓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96696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Kurt: ✓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429000"/>
            <a:ext cx="3566160" cy="2240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429000"/>
            <a:ext cx="35661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4" name="Shape 42"/>
          <p:cNvSpPr/>
          <p:nvPr/>
        </p:nvSpPr>
        <p:spPr>
          <a:xfrm>
            <a:off x="3383280" y="3538728"/>
            <a:ext cx="502920" cy="5029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338328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CGMY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928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CGMY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66928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Lévy Jump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4087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Power-law jumps. Heaviest tails.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66928" y="4617720"/>
            <a:ext cx="3346704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0" name="Text 48"/>
          <p:cNvSpPr/>
          <p:nvPr/>
        </p:nvSpPr>
        <p:spPr>
          <a:xfrm>
            <a:off x="566928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Params: C,G,M,Y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286000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StochVol: ❌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6928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Skew: ✓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28600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Kurt: ✓✓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297680" y="3429000"/>
            <a:ext cx="3566160" cy="2240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297680" y="3429000"/>
            <a:ext cx="356616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6" name="Shape 54"/>
          <p:cNvSpPr/>
          <p:nvPr/>
        </p:nvSpPr>
        <p:spPr>
          <a:xfrm>
            <a:off x="7223760" y="3538728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7" name="Text 55"/>
          <p:cNvSpPr/>
          <p:nvPr/>
        </p:nvSpPr>
        <p:spPr>
          <a:xfrm>
            <a:off x="722376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NIG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407408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NIG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407408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59B6"/>
                </a:solidFill>
              </a:rPr>
              <a:t>Lévy Jump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407408" y="4087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Inv. Gaussian time change. Credit markets.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07408" y="4617720"/>
            <a:ext cx="3346704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2" name="Text 60"/>
          <p:cNvSpPr/>
          <p:nvPr/>
        </p:nvSpPr>
        <p:spPr>
          <a:xfrm>
            <a:off x="4407408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Params: α,β,δ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126480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StochVol: ❌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407408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Skew: ✓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2648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Kurt: ✓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138160" y="3429000"/>
            <a:ext cx="3566160" cy="22402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138160" y="3429000"/>
            <a:ext cx="35661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4240" y="3538728"/>
            <a:ext cx="502920" cy="5029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9" name="Text 67"/>
          <p:cNvSpPr/>
          <p:nvPr/>
        </p:nvSpPr>
        <p:spPr>
          <a:xfrm>
            <a:off x="1106424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5"/>
                </a:solidFill>
              </a:rPr>
              <a:t>MJD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247888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Merton Jump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247888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</a:rPr>
              <a:t>Jump-Diff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247888" y="40873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Gaussian jumps on diffusion. Parsimonious.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8247888" y="4617720"/>
            <a:ext cx="3346704" cy="1828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4" name="Text 72"/>
          <p:cNvSpPr/>
          <p:nvPr/>
        </p:nvSpPr>
        <p:spPr>
          <a:xfrm>
            <a:off x="8247888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Params: σ,λ,μⱼ,δⱼ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966960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StochVol: ❌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247888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Skew: Mild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96696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CE"/>
                </a:solidFill>
              </a:rPr>
              <a:t>Kurt: Mild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 MODEL — DEEP DIVE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0DC"/>
                </a:solidFill>
              </a:rPr>
              <a:t>Stochastic Dynamics Under Q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029200" cy="43891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dSₜ  =  (r − q)·Sₜ·dt  +  √vₜ·Sₜ·dW₁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029200" cy="43891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dvₜ  =  κ(θ − vₜ)·dt  +  ξ·√vₜ·dW₂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0" cy="43891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dW₁·dW₂  =  ρ·dt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Initial variance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Determines current ATM vol = √v₀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365760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5295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Mean-reversion speed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529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Controls how fast vol returns to 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365760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Long-run variance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Long-term ATM vol = √θ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365760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ξ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5537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Vol of vol (vvol)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4553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Controls smile curvature and kurtosis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65776"/>
            <a:ext cx="365760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065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Correlation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5065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Negative for equities: controls skew slope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960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0DC"/>
                </a:solidFill>
              </a:rPr>
              <a:t>Characteristic Function (Albrecher 2007)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126480" y="1325880"/>
            <a:ext cx="5669280" cy="23774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17920" y="141732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 φ(u) = iu(r−q)T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(a/ξ²)[(b−d)T − 2 log((1−g·e^{−dT})/(1−g))]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(v₀/ξ²)(b−d)(1−e^{−dT}) / (1−g·e^{−dT})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where:  a = κθ,  b = κ − ρξiu,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d = √(b² + ξ²u(u+i)),  g = (b−d)/(b+d)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3794760"/>
            <a:ext cx="5669280" cy="731520"/>
          </a:xfrm>
          <a:prstGeom prst="rect">
            <a:avLst/>
          </a:prstGeom>
          <a:solidFill>
            <a:srgbClr val="0D2B1D"/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3794760"/>
            <a:ext cx="4572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794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Feller Condition:  2κθ &gt; ξ²  ensures  vₜ &gt; 0  almost surely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46634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Smile Correlation Impact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6172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K=80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5090595"/>
            <a:ext cx="365760" cy="103588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1" name="Shape 39"/>
          <p:cNvSpPr/>
          <p:nvPr/>
        </p:nvSpPr>
        <p:spPr>
          <a:xfrm>
            <a:off x="6675120" y="5735901"/>
            <a:ext cx="365760" cy="390579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6172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K=90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06640" y="5396266"/>
            <a:ext cx="365760" cy="73021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4" name="Shape 42"/>
          <p:cNvSpPr/>
          <p:nvPr/>
        </p:nvSpPr>
        <p:spPr>
          <a:xfrm>
            <a:off x="7772400" y="5769864"/>
            <a:ext cx="365760" cy="35661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5" name="Text 43"/>
          <p:cNvSpPr/>
          <p:nvPr/>
        </p:nvSpPr>
        <p:spPr>
          <a:xfrm>
            <a:off x="8686800" y="6172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K=100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03920" y="5769864"/>
            <a:ext cx="365760" cy="35661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7" name="Shape 45"/>
          <p:cNvSpPr/>
          <p:nvPr/>
        </p:nvSpPr>
        <p:spPr>
          <a:xfrm>
            <a:off x="8869680" y="5786846"/>
            <a:ext cx="365760" cy="33963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9784080" y="6172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K=110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601200" y="5888736"/>
            <a:ext cx="365760" cy="23774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0" name="Shape 48"/>
          <p:cNvSpPr/>
          <p:nvPr/>
        </p:nvSpPr>
        <p:spPr>
          <a:xfrm>
            <a:off x="9966960" y="5752882"/>
            <a:ext cx="365760" cy="37359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1" name="Text 49"/>
          <p:cNvSpPr/>
          <p:nvPr/>
        </p:nvSpPr>
        <p:spPr>
          <a:xfrm>
            <a:off x="10881360" y="61722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K=120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698480" y="5939681"/>
            <a:ext cx="365760" cy="186799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064240" y="5701937"/>
            <a:ext cx="365760" cy="424543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4" name="Text 52"/>
          <p:cNvSpPr/>
          <p:nvPr/>
        </p:nvSpPr>
        <p:spPr>
          <a:xfrm>
            <a:off x="9601200" y="6217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0C0"/>
                </a:solidFill>
              </a:rPr>
              <a:t>ρ = -0.7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515600" y="6217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ρ = 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SMILE BY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calibrated to ATM vol ≈ 20% — smile differences encode distributional properties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7772400" cy="9144"/>
          </a:xfrm>
          <a:prstGeom prst="rect">
            <a:avLst/>
          </a:prstGeom>
          <a:solidFill>
            <a:srgbClr val="A8BFCE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42976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18%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7772400" cy="9144"/>
          </a:xfrm>
          <a:prstGeom prst="rect">
            <a:avLst/>
          </a:prstGeom>
          <a:solidFill>
            <a:srgbClr val="A8BFCE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35661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20%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772400" cy="9144"/>
          </a:xfrm>
          <a:prstGeom prst="rect">
            <a:avLst/>
          </a:prstGeom>
          <a:solidFill>
            <a:srgbClr val="A8BFCE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440" y="28346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22%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7772400" cy="9144"/>
          </a:xfrm>
          <a:prstGeom prst="rect">
            <a:avLst/>
          </a:prstGeom>
          <a:solidFill>
            <a:srgbClr val="A8BFCE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21031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24%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463040"/>
            <a:ext cx="7772400" cy="9144"/>
          </a:xfrm>
          <a:prstGeom prst="rect">
            <a:avLst/>
          </a:prstGeom>
          <a:solidFill>
            <a:srgbClr val="A8BFCE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" y="13716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FCE"/>
                </a:solidFill>
              </a:rPr>
              <a:t>26%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K=80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8234" y="3657600"/>
            <a:ext cx="222069" cy="109728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8" name="Shape 16"/>
          <p:cNvSpPr/>
          <p:nvPr/>
        </p:nvSpPr>
        <p:spPr>
          <a:xfrm>
            <a:off x="790303" y="2816352"/>
            <a:ext cx="222069" cy="193852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2371" y="2414016"/>
            <a:ext cx="222069" cy="2340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34440" y="1792224"/>
            <a:ext cx="222069" cy="29626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Shape 19"/>
          <p:cNvSpPr/>
          <p:nvPr/>
        </p:nvSpPr>
        <p:spPr>
          <a:xfrm>
            <a:off x="1456509" y="2596896"/>
            <a:ext cx="222069" cy="215798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Shape 20"/>
          <p:cNvSpPr/>
          <p:nvPr/>
        </p:nvSpPr>
        <p:spPr>
          <a:xfrm>
            <a:off x="1678577" y="2926080"/>
            <a:ext cx="222069" cy="1828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K=90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22714" y="3657600"/>
            <a:ext cx="222069" cy="109728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4783" y="3218688"/>
            <a:ext cx="222069" cy="153619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6" name="Shape 24"/>
          <p:cNvSpPr/>
          <p:nvPr/>
        </p:nvSpPr>
        <p:spPr>
          <a:xfrm>
            <a:off x="2566851" y="3035808"/>
            <a:ext cx="222069" cy="17190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Shape 25"/>
          <p:cNvSpPr/>
          <p:nvPr/>
        </p:nvSpPr>
        <p:spPr>
          <a:xfrm>
            <a:off x="2788920" y="2779776"/>
            <a:ext cx="222069" cy="197510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Shape 26"/>
          <p:cNvSpPr/>
          <p:nvPr/>
        </p:nvSpPr>
        <p:spPr>
          <a:xfrm>
            <a:off x="3010989" y="3145536"/>
            <a:ext cx="222069" cy="160934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9" name="Shape 27"/>
          <p:cNvSpPr/>
          <p:nvPr/>
        </p:nvSpPr>
        <p:spPr>
          <a:xfrm>
            <a:off x="3233057" y="3328416"/>
            <a:ext cx="222069" cy="14264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397764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K=100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77194" y="3657600"/>
            <a:ext cx="222069" cy="109728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32" name="Shape 30"/>
          <p:cNvSpPr/>
          <p:nvPr/>
        </p:nvSpPr>
        <p:spPr>
          <a:xfrm>
            <a:off x="3899263" y="3621024"/>
            <a:ext cx="222069" cy="113385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3" name="Shape 31"/>
          <p:cNvSpPr/>
          <p:nvPr/>
        </p:nvSpPr>
        <p:spPr>
          <a:xfrm>
            <a:off x="4121331" y="3621024"/>
            <a:ext cx="222069" cy="11338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4" name="Shape 32"/>
          <p:cNvSpPr/>
          <p:nvPr/>
        </p:nvSpPr>
        <p:spPr>
          <a:xfrm>
            <a:off x="4343400" y="3621024"/>
            <a:ext cx="222069" cy="11338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65469" y="3621024"/>
            <a:ext cx="222069" cy="1133856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6" name="Shape 34"/>
          <p:cNvSpPr/>
          <p:nvPr/>
        </p:nvSpPr>
        <p:spPr>
          <a:xfrm>
            <a:off x="4787537" y="3657600"/>
            <a:ext cx="222069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7" name="Text 35"/>
          <p:cNvSpPr/>
          <p:nvPr/>
        </p:nvSpPr>
        <p:spPr>
          <a:xfrm>
            <a:off x="553212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K=110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31674" y="3657600"/>
            <a:ext cx="222069" cy="109728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39" name="Shape 37"/>
          <p:cNvSpPr/>
          <p:nvPr/>
        </p:nvSpPr>
        <p:spPr>
          <a:xfrm>
            <a:off x="5453743" y="3877056"/>
            <a:ext cx="222069" cy="87782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0" name="Shape 38"/>
          <p:cNvSpPr/>
          <p:nvPr/>
        </p:nvSpPr>
        <p:spPr>
          <a:xfrm>
            <a:off x="5675811" y="3913632"/>
            <a:ext cx="222069" cy="8412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1" name="Shape 39"/>
          <p:cNvSpPr/>
          <p:nvPr/>
        </p:nvSpPr>
        <p:spPr>
          <a:xfrm>
            <a:off x="5897880" y="3986784"/>
            <a:ext cx="222069" cy="7680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19949" y="3913632"/>
            <a:ext cx="222069" cy="84124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3" name="Shape 41"/>
          <p:cNvSpPr/>
          <p:nvPr/>
        </p:nvSpPr>
        <p:spPr>
          <a:xfrm>
            <a:off x="6342017" y="3803904"/>
            <a:ext cx="222069" cy="9509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4" name="Text 42"/>
          <p:cNvSpPr/>
          <p:nvPr/>
        </p:nvSpPr>
        <p:spPr>
          <a:xfrm>
            <a:off x="708660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K=120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86154" y="3657600"/>
            <a:ext cx="222069" cy="109728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46" name="Shape 44"/>
          <p:cNvSpPr/>
          <p:nvPr/>
        </p:nvSpPr>
        <p:spPr>
          <a:xfrm>
            <a:off x="7008223" y="3986784"/>
            <a:ext cx="222069" cy="76809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7" name="Shape 45"/>
          <p:cNvSpPr/>
          <p:nvPr/>
        </p:nvSpPr>
        <p:spPr>
          <a:xfrm>
            <a:off x="7230291" y="4023360"/>
            <a:ext cx="222069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8" name="Shape 46"/>
          <p:cNvSpPr/>
          <p:nvPr/>
        </p:nvSpPr>
        <p:spPr>
          <a:xfrm>
            <a:off x="7452360" y="4059936"/>
            <a:ext cx="222069" cy="69494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9" name="Shape 47"/>
          <p:cNvSpPr/>
          <p:nvPr/>
        </p:nvSpPr>
        <p:spPr>
          <a:xfrm>
            <a:off x="7674429" y="4059936"/>
            <a:ext cx="222069" cy="69494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0" name="Shape 48"/>
          <p:cNvSpPr/>
          <p:nvPr/>
        </p:nvSpPr>
        <p:spPr>
          <a:xfrm>
            <a:off x="7896497" y="3877056"/>
            <a:ext cx="222069" cy="87782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1" name="Shape 49"/>
          <p:cNvSpPr/>
          <p:nvPr/>
        </p:nvSpPr>
        <p:spPr>
          <a:xfrm>
            <a:off x="2743200" y="5212080"/>
            <a:ext cx="137160" cy="13716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52" name="Text 50"/>
          <p:cNvSpPr/>
          <p:nvPr/>
        </p:nvSpPr>
        <p:spPr>
          <a:xfrm>
            <a:off x="2926080" y="51937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BSM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0" y="5212080"/>
            <a:ext cx="137160" cy="1371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4" name="Text 52"/>
          <p:cNvSpPr/>
          <p:nvPr/>
        </p:nvSpPr>
        <p:spPr>
          <a:xfrm>
            <a:off x="4297680" y="51937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Heston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0" y="5486400"/>
            <a:ext cx="13716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6" name="Text 54"/>
          <p:cNvSpPr/>
          <p:nvPr/>
        </p:nvSpPr>
        <p:spPr>
          <a:xfrm>
            <a:off x="2926080" y="54681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14800" y="5486400"/>
            <a:ext cx="13716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8" name="Text 56"/>
          <p:cNvSpPr/>
          <p:nvPr/>
        </p:nvSpPr>
        <p:spPr>
          <a:xfrm>
            <a:off x="4297680" y="54681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CGMY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0" y="5760720"/>
            <a:ext cx="137160" cy="1371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60" name="Text 58"/>
          <p:cNvSpPr/>
          <p:nvPr/>
        </p:nvSpPr>
        <p:spPr>
          <a:xfrm>
            <a:off x="2926080" y="5742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NIG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114800" y="5760720"/>
            <a:ext cx="137160" cy="137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2" name="Text 60"/>
          <p:cNvSpPr/>
          <p:nvPr/>
        </p:nvSpPr>
        <p:spPr>
          <a:xfrm>
            <a:off x="4297680" y="5742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MJD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503920" y="1508760"/>
            <a:ext cx="3474720" cy="9144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503920" y="1508760"/>
            <a:ext cx="45720" cy="91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5" name="Text 63"/>
          <p:cNvSpPr/>
          <p:nvPr/>
        </p:nvSpPr>
        <p:spPr>
          <a:xfrm>
            <a:off x="8641080" y="1554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Pure Lévy (VG, CGMY, NIG) generate more left skew than Heston at comparable parameters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503920" y="2514600"/>
            <a:ext cx="3474720" cy="9144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8503920" y="2514600"/>
            <a:ext cx="45720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8" name="Text 66"/>
          <p:cNvSpPr/>
          <p:nvPr/>
        </p:nvSpPr>
        <p:spPr>
          <a:xfrm>
            <a:off x="8641080" y="25603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CGMY has heaviest wings — power-law decay of ν(dx) dominates exponential decay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503920" y="3520440"/>
            <a:ext cx="3474720" cy="9144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503920" y="3520440"/>
            <a:ext cx="4572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1" name="Text 69"/>
          <p:cNvSpPr/>
          <p:nvPr/>
        </p:nvSpPr>
        <p:spPr>
          <a:xfrm>
            <a:off x="8641080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Heston uniquely generates term structure: smile flattens for long maturities (mean reversion)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503920" y="4526280"/>
            <a:ext cx="3474720" cy="9144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8503920" y="4526280"/>
            <a:ext cx="45720" cy="91440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74" name="Text 72"/>
          <p:cNvSpPr/>
          <p:nvPr/>
        </p:nvSpPr>
        <p:spPr>
          <a:xfrm>
            <a:off x="8641080" y="45720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MJD produces mildest smile — finite jump activity limits extreme tails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503920" y="5532120"/>
            <a:ext cx="3474720" cy="91440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8503920" y="5532120"/>
            <a:ext cx="45720" cy="9144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7" name="Text 75"/>
          <p:cNvSpPr/>
          <p:nvPr/>
        </p:nvSpPr>
        <p:spPr>
          <a:xfrm>
            <a:off x="8641080" y="55778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FCE"/>
                </a:solidFill>
              </a:rPr>
              <a:t>BSM flat smile = benchmark; all others are corrections to log-normal assumption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SURFACE CALIBRATION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1247120" cy="10058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05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</a:rPr>
              <a:t>Vega-Weighted Objective Function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min_θ  Σᵢ wᵢ · [σᵢᵐᵒᵈᵉˡ(Kᵢ; θ) − σᵢᵐᵃʳᵏᵉᵗ(Kᵢ)]²     where  wᵢ = Vegaᵢ / ΣⱼVegaⱼ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0DC"/>
                </a:solidFill>
              </a:rPr>
              <a:t>Two-Stage Optimization Strategy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5394960" cy="1828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5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Differential Evolution (Global)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Population size 12, max 300 iterations, tol 1e-6. Reliably finds the basin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of the global minimum. Avoids local optima common in Heston calibration.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423160"/>
            <a:ext cx="5394960" cy="18288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26517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5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2651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L-BFGS-B (Local)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Warm-started from Stage 1, max 500 iterations, ftol=1e-9. Second-order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convergence for precise fine-tuning. Parameter bounds enforce economic constraints.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3246120"/>
            <a:ext cx="13716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54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Calibration Accuracy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645920" cy="27432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4754880"/>
            <a:ext cx="1645920" cy="27432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RMSE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4754880"/>
            <a:ext cx="1645920" cy="27432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Max 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4754880"/>
            <a:ext cx="1645920" cy="27432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Avg Rel. Error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4754880"/>
            <a:ext cx="1645920" cy="27432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Runtime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Heston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502920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4.2 bps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49040" y="502920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11.3 bps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502920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0.21%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502920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~45s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539496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Variance Gamma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03120" y="539496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12.8 bps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49040" y="539496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28.6 bps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539496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0.64%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539496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~30s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76072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NIG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03120" y="576072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9.1 bps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49040" y="576072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19.4 bps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576072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0.45%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5760720"/>
            <a:ext cx="1645920" cy="36576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~35s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12648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CGMY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03120" y="612648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7.3 bps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49040" y="612648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15.1 bps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612648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0.36%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40880" y="6126480"/>
            <a:ext cx="164592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~50s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326880" y="4407408"/>
            <a:ext cx="2560320" cy="23317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326880" y="4407408"/>
            <a:ext cx="45720" cy="2331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/>
          <p:nvPr/>
        </p:nvSpPr>
        <p:spPr>
          <a:xfrm>
            <a:off x="9464040" y="4517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464040" y="4809744"/>
            <a:ext cx="233172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 RMSE of 4.2 bps is within the bid-ask spread for liquid single-stock options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(~20-50 bps). This makes Fourier-based calibration suitable for real-time pricing.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 VIA FOURIER INVERSION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CVaR, and Greeks — semi-analytical precision without Monte Carlo noise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0DC"/>
                </a:solidFill>
              </a:rPr>
              <a:t>VaR and CVaR via Gil-Pelaez CDF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59436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½ − (1/π) ∫₀^∞ Im[φ(u)·e^{−iux}]/u du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FCE"/>
                </a:solidFill>
              </a:rPr>
              <a:t>VaR_α found by bisection on F(x) = α. CVaR integrates x·f(x) below VaR.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FCE"/>
                </a:solidFill>
              </a:rPr>
              <a:t>Error scales as O(N⁻²) vs O(N⁻¹/²) for Monte Carlo — 100x fewer evaluations.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0DC"/>
                </a:solidFill>
              </a:rPr>
              <a:t>Fourier Greeks — 3 FFT Calls for All Strikes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4864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91840"/>
            <a:ext cx="438912" cy="438912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32918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(C(S+h) − C(S−h)) / 2h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54864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77640"/>
            <a:ext cx="438912" cy="438912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9776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Gamma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39776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(C(S+h) − 2C(S) + C(S−h)) / h²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54864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663440"/>
            <a:ext cx="438912" cy="438912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4663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11680" y="46634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(C(T−dt) − C(T)) / dt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257800"/>
            <a:ext cx="54864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349240"/>
            <a:ext cx="438912" cy="438912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349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53492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Vega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11680" y="5349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Numerical diff. on vol parameter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0DC"/>
                </a:solidFill>
              </a:rPr>
              <a:t>Monte Carlo vs Fourier Risk Measures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9360" y="1325880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1325880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Monte Carlo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966960" y="1325880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Fourier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1728216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Error Scaling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1728216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O(N^{-½})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66960" y="1728216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O(N^{-2})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2130552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Paths for 1bp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2130552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~10⁸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66960" y="2130552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~1000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2532888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Runtime for CVaR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2532888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~60s (GPU)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66960" y="2532888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&lt;1s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2935224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Parametric?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2935224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No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66960" y="2935224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Yes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09360" y="3337560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Model Consistent?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138160" y="3337560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Yes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966960" y="3337560"/>
            <a:ext cx="1828800" cy="402336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Yes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09360" y="3739896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Noise-Free?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138160" y="3739896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No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966960" y="3739896"/>
            <a:ext cx="1828800" cy="402336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Yes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0936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Risk-Neutral Density: BSM vs Jump Model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309360" y="6252692"/>
            <a:ext cx="91440" cy="148108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55" name="Shape 53"/>
          <p:cNvSpPr/>
          <p:nvPr/>
        </p:nvSpPr>
        <p:spPr>
          <a:xfrm>
            <a:off x="6400800" y="4378096"/>
            <a:ext cx="91440" cy="20227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6" name="Shape 54"/>
          <p:cNvSpPr/>
          <p:nvPr/>
        </p:nvSpPr>
        <p:spPr>
          <a:xfrm>
            <a:off x="6492240" y="6207491"/>
            <a:ext cx="91440" cy="193309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57" name="Shape 55"/>
          <p:cNvSpPr/>
          <p:nvPr/>
        </p:nvSpPr>
        <p:spPr>
          <a:xfrm>
            <a:off x="6583680" y="4159244"/>
            <a:ext cx="91440" cy="2241556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8" name="Shape 56"/>
          <p:cNvSpPr/>
          <p:nvPr/>
        </p:nvSpPr>
        <p:spPr>
          <a:xfrm>
            <a:off x="6675120" y="6153249"/>
            <a:ext cx="91440" cy="247551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59" name="Shape 57"/>
          <p:cNvSpPr/>
          <p:nvPr/>
        </p:nvSpPr>
        <p:spPr>
          <a:xfrm>
            <a:off x="6766560" y="3954235"/>
            <a:ext cx="91440" cy="244656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0" name="Shape 58"/>
          <p:cNvSpPr/>
          <p:nvPr/>
        </p:nvSpPr>
        <p:spPr>
          <a:xfrm>
            <a:off x="6858000" y="6089762"/>
            <a:ext cx="91440" cy="311038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61" name="Shape 59"/>
          <p:cNvSpPr/>
          <p:nvPr/>
        </p:nvSpPr>
        <p:spPr>
          <a:xfrm>
            <a:off x="6949440" y="3770810"/>
            <a:ext cx="91440" cy="262999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2" name="Shape 60"/>
          <p:cNvSpPr/>
          <p:nvPr/>
        </p:nvSpPr>
        <p:spPr>
          <a:xfrm>
            <a:off x="7040880" y="6017357"/>
            <a:ext cx="91440" cy="383443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63" name="Shape 61"/>
          <p:cNvSpPr/>
          <p:nvPr/>
        </p:nvSpPr>
        <p:spPr>
          <a:xfrm>
            <a:off x="7132320" y="3616338"/>
            <a:ext cx="91440" cy="278446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4" name="Shape 62"/>
          <p:cNvSpPr/>
          <p:nvPr/>
        </p:nvSpPr>
        <p:spPr>
          <a:xfrm>
            <a:off x="7223760" y="5937006"/>
            <a:ext cx="91440" cy="463794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65" name="Shape 63"/>
          <p:cNvSpPr/>
          <p:nvPr/>
        </p:nvSpPr>
        <p:spPr>
          <a:xfrm>
            <a:off x="7315200" y="3497321"/>
            <a:ext cx="91440" cy="2903479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6" name="Shape 64"/>
          <p:cNvSpPr/>
          <p:nvPr/>
        </p:nvSpPr>
        <p:spPr>
          <a:xfrm>
            <a:off x="7406640" y="5850389"/>
            <a:ext cx="91440" cy="550411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67" name="Shape 65"/>
          <p:cNvSpPr/>
          <p:nvPr/>
        </p:nvSpPr>
        <p:spPr>
          <a:xfrm>
            <a:off x="7498080" y="3418948"/>
            <a:ext cx="91440" cy="298185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8" name="Shape 66"/>
          <p:cNvSpPr/>
          <p:nvPr/>
        </p:nvSpPr>
        <p:spPr>
          <a:xfrm>
            <a:off x="7589520" y="5759906"/>
            <a:ext cx="91440" cy="640894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69" name="Shape 67"/>
          <p:cNvSpPr/>
          <p:nvPr/>
        </p:nvSpPr>
        <p:spPr>
          <a:xfrm>
            <a:off x="7680960" y="3384715"/>
            <a:ext cx="91440" cy="301608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0" name="Shape 68"/>
          <p:cNvSpPr/>
          <p:nvPr/>
        </p:nvSpPr>
        <p:spPr>
          <a:xfrm>
            <a:off x="7772400" y="5668610"/>
            <a:ext cx="91440" cy="73219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71" name="Shape 69"/>
          <p:cNvSpPr/>
          <p:nvPr/>
        </p:nvSpPr>
        <p:spPr>
          <a:xfrm>
            <a:off x="7863840" y="3396169"/>
            <a:ext cx="91440" cy="3004631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2" name="Shape 70"/>
          <p:cNvSpPr/>
          <p:nvPr/>
        </p:nvSpPr>
        <p:spPr>
          <a:xfrm>
            <a:off x="7955280" y="5580074"/>
            <a:ext cx="91440" cy="820726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73" name="Shape 71"/>
          <p:cNvSpPr/>
          <p:nvPr/>
        </p:nvSpPr>
        <p:spPr>
          <a:xfrm>
            <a:off x="8046720" y="3452792"/>
            <a:ext cx="91440" cy="294800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4" name="Shape 72"/>
          <p:cNvSpPr/>
          <p:nvPr/>
        </p:nvSpPr>
        <p:spPr>
          <a:xfrm>
            <a:off x="8138160" y="5498169"/>
            <a:ext cx="91440" cy="902631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75" name="Shape 73"/>
          <p:cNvSpPr/>
          <p:nvPr/>
        </p:nvSpPr>
        <p:spPr>
          <a:xfrm>
            <a:off x="8229600" y="3552037"/>
            <a:ext cx="91440" cy="2848763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6" name="Shape 74"/>
          <p:cNvSpPr/>
          <p:nvPr/>
        </p:nvSpPr>
        <p:spPr>
          <a:xfrm>
            <a:off x="8321040" y="5426797"/>
            <a:ext cx="91440" cy="974003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77" name="Shape 75"/>
          <p:cNvSpPr/>
          <p:nvPr/>
        </p:nvSpPr>
        <p:spPr>
          <a:xfrm>
            <a:off x="8412480" y="3689523"/>
            <a:ext cx="91440" cy="2711277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8" name="Shape 76"/>
          <p:cNvSpPr/>
          <p:nvPr/>
        </p:nvSpPr>
        <p:spPr>
          <a:xfrm>
            <a:off x="8503920" y="5369589"/>
            <a:ext cx="91440" cy="1031211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79" name="Shape 77"/>
          <p:cNvSpPr/>
          <p:nvPr/>
        </p:nvSpPr>
        <p:spPr>
          <a:xfrm>
            <a:off x="8595360" y="3859350"/>
            <a:ext cx="91440" cy="254145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0" name="Shape 78"/>
          <p:cNvSpPr/>
          <p:nvPr/>
        </p:nvSpPr>
        <p:spPr>
          <a:xfrm>
            <a:off x="8686800" y="5329596"/>
            <a:ext cx="91440" cy="1071204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81" name="Shape 79"/>
          <p:cNvSpPr/>
          <p:nvPr/>
        </p:nvSpPr>
        <p:spPr>
          <a:xfrm>
            <a:off x="8778240" y="4054522"/>
            <a:ext cx="91440" cy="2346278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2" name="Shape 80"/>
          <p:cNvSpPr/>
          <p:nvPr/>
        </p:nvSpPr>
        <p:spPr>
          <a:xfrm>
            <a:off x="8869680" y="5309021"/>
            <a:ext cx="91440" cy="1091779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83" name="Shape 81"/>
          <p:cNvSpPr/>
          <p:nvPr/>
        </p:nvSpPr>
        <p:spPr>
          <a:xfrm>
            <a:off x="8961120" y="4267425"/>
            <a:ext cx="91440" cy="213337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4" name="Shape 82"/>
          <p:cNvSpPr/>
          <p:nvPr/>
        </p:nvSpPr>
        <p:spPr>
          <a:xfrm>
            <a:off x="9052560" y="5309021"/>
            <a:ext cx="91440" cy="1091779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85" name="Shape 83"/>
          <p:cNvSpPr/>
          <p:nvPr/>
        </p:nvSpPr>
        <p:spPr>
          <a:xfrm>
            <a:off x="9144000" y="5096213"/>
            <a:ext cx="91440" cy="1304587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6" name="Shape 84"/>
          <p:cNvSpPr/>
          <p:nvPr/>
        </p:nvSpPr>
        <p:spPr>
          <a:xfrm>
            <a:off x="9235440" y="5329596"/>
            <a:ext cx="91440" cy="1071204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87" name="Shape 85"/>
          <p:cNvSpPr/>
          <p:nvPr/>
        </p:nvSpPr>
        <p:spPr>
          <a:xfrm>
            <a:off x="9326880" y="4896130"/>
            <a:ext cx="91440" cy="15046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8" name="Shape 86"/>
          <p:cNvSpPr/>
          <p:nvPr/>
        </p:nvSpPr>
        <p:spPr>
          <a:xfrm>
            <a:off x="9418320" y="5369589"/>
            <a:ext cx="91440" cy="1031211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89" name="Shape 87"/>
          <p:cNvSpPr/>
          <p:nvPr/>
        </p:nvSpPr>
        <p:spPr>
          <a:xfrm>
            <a:off x="9509760" y="4704531"/>
            <a:ext cx="91440" cy="1696269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0" name="Shape 88"/>
          <p:cNvSpPr/>
          <p:nvPr/>
        </p:nvSpPr>
        <p:spPr>
          <a:xfrm>
            <a:off x="9601200" y="5426797"/>
            <a:ext cx="91440" cy="974003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91" name="Shape 89"/>
          <p:cNvSpPr/>
          <p:nvPr/>
        </p:nvSpPr>
        <p:spPr>
          <a:xfrm>
            <a:off x="9692640" y="4531697"/>
            <a:ext cx="91440" cy="1869103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2" name="Shape 90"/>
          <p:cNvSpPr/>
          <p:nvPr/>
        </p:nvSpPr>
        <p:spPr>
          <a:xfrm>
            <a:off x="9784080" y="5498169"/>
            <a:ext cx="91440" cy="902631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93" name="Shape 91"/>
          <p:cNvSpPr/>
          <p:nvPr/>
        </p:nvSpPr>
        <p:spPr>
          <a:xfrm>
            <a:off x="9875520" y="4387740"/>
            <a:ext cx="91440" cy="20130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4" name="Shape 92"/>
          <p:cNvSpPr/>
          <p:nvPr/>
        </p:nvSpPr>
        <p:spPr>
          <a:xfrm>
            <a:off x="9966960" y="5580074"/>
            <a:ext cx="91440" cy="820726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95" name="Shape 93"/>
          <p:cNvSpPr/>
          <p:nvPr/>
        </p:nvSpPr>
        <p:spPr>
          <a:xfrm>
            <a:off x="10058400" y="4281633"/>
            <a:ext cx="91440" cy="2119167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6" name="Shape 94"/>
          <p:cNvSpPr/>
          <p:nvPr/>
        </p:nvSpPr>
        <p:spPr>
          <a:xfrm>
            <a:off x="10149840" y="5668610"/>
            <a:ext cx="91440" cy="73219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97" name="Shape 95"/>
          <p:cNvSpPr/>
          <p:nvPr/>
        </p:nvSpPr>
        <p:spPr>
          <a:xfrm>
            <a:off x="10241280" y="4220286"/>
            <a:ext cx="91440" cy="218051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8" name="Shape 96"/>
          <p:cNvSpPr/>
          <p:nvPr/>
        </p:nvSpPr>
        <p:spPr>
          <a:xfrm>
            <a:off x="10332720" y="5759906"/>
            <a:ext cx="91440" cy="640894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99" name="Shape 97"/>
          <p:cNvSpPr/>
          <p:nvPr/>
        </p:nvSpPr>
        <p:spPr>
          <a:xfrm>
            <a:off x="10424160" y="4207805"/>
            <a:ext cx="91440" cy="219299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515600" y="5850389"/>
            <a:ext cx="91440" cy="550411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607040" y="4245035"/>
            <a:ext cx="91440" cy="215576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698480" y="5937006"/>
            <a:ext cx="91440" cy="463794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789920" y="4329465"/>
            <a:ext cx="91440" cy="207133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881360" y="6017357"/>
            <a:ext cx="91440" cy="383443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972800" y="4455510"/>
            <a:ext cx="91440" cy="194529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064240" y="6089762"/>
            <a:ext cx="91440" cy="311038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155680" y="4615121"/>
            <a:ext cx="91440" cy="1785679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247120" y="6153249"/>
            <a:ext cx="91440" cy="247551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338560" y="4798635"/>
            <a:ext cx="91440" cy="160216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430000" y="6207491"/>
            <a:ext cx="91440" cy="193309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521440" y="4995735"/>
            <a:ext cx="91440" cy="1405065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612880" y="6252692"/>
            <a:ext cx="91440" cy="148108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704320" y="5196400"/>
            <a:ext cx="91440" cy="12044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14" name="Text 112"/>
          <p:cNvSpPr/>
          <p:nvPr/>
        </p:nvSpPr>
        <p:spPr>
          <a:xfrm>
            <a:off x="704088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70C0"/>
                </a:solidFill>
              </a:rPr>
              <a:t>← Fat left tail (VG)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905256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BSM (log-normal)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TRADING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657600" cy="23774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365760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Surface Maintenance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Carr-Madan FFT computes all strikes in &lt;5ms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Heston recalibration: ~45s full, ~2s incremental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414016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Supports continuous streaming surface update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98064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706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Used for options market-making and delta hedging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960120"/>
            <a:ext cx="3657600" cy="23774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960120"/>
            <a:ext cx="36576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92040" y="1097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Volatility Arbitrage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16459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Compare risk-neutral densities across models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202996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Detect butterfly arb: convexity violations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241401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Calendar spread arb via term structure check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279806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706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Signal generation from model divergence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960120"/>
            <a:ext cx="3657600" cy="23774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960120"/>
            <a:ext cx="365760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778240" y="1097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Jump Detection &amp; Signal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12480" y="1645920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859536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Compare empirical CF to BSM Gaussian CF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12480" y="2029968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0" y="1938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Excess kurtosis signals jump activity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12480" y="2414016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8595360" y="2322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High-frequency: spectral density of log-prices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2798064"/>
            <a:ext cx="91440" cy="914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0" name="Text 38"/>
          <p:cNvSpPr/>
          <p:nvPr/>
        </p:nvSpPr>
        <p:spPr>
          <a:xfrm>
            <a:off x="8595360" y="2706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Lead-lag detection via cross-spectral analysis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520440"/>
            <a:ext cx="3657600" cy="23774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3520440"/>
            <a:ext cx="3657600" cy="45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00584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Greeks &amp; Hedge Ratios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40080" y="4206240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Delta/Gamma for entire book: 3 FFT calls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4590288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48" name="Text 46"/>
          <p:cNvSpPr/>
          <p:nvPr/>
        </p:nvSpPr>
        <p:spPr>
          <a:xfrm>
            <a:off x="822960" y="4498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Model-consistent (not BSM-approximated) Greeks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4974336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4882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Vega of each parameter: analytical differentiation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5358384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" y="5266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Real-time P&amp;L attribution via Fourier Greeks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343400" y="3520440"/>
            <a:ext cx="3657600" cy="23774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343400" y="3520440"/>
            <a:ext cx="3657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5" name="Text 53"/>
          <p:cNvSpPr/>
          <p:nvPr/>
        </p:nvSpPr>
        <p:spPr>
          <a:xfrm>
            <a:off x="44348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489204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Portfolio Risk Management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526280" y="4206240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8" name="Text 56"/>
          <p:cNvSpPr/>
          <p:nvPr/>
        </p:nvSpPr>
        <p:spPr>
          <a:xfrm>
            <a:off x="470916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CVaR with model-specific fat tails (CGMY)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26280" y="4590288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0" name="Text 58"/>
          <p:cNvSpPr/>
          <p:nvPr/>
        </p:nvSpPr>
        <p:spPr>
          <a:xfrm>
            <a:off x="4709160" y="4498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Stress scenarios via parameter perturbation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26280" y="4974336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2" name="Text 60"/>
          <p:cNvSpPr/>
          <p:nvPr/>
        </p:nvSpPr>
        <p:spPr>
          <a:xfrm>
            <a:off x="4709160" y="4882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Correlation structure: copula on CF domain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526280" y="5358384"/>
            <a:ext cx="91440" cy="914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4" name="Text 62"/>
          <p:cNvSpPr/>
          <p:nvPr/>
        </p:nvSpPr>
        <p:spPr>
          <a:xfrm>
            <a:off x="4709160" y="5266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Regulatory VaR: Fourier vs Monte Carlo match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229600" y="3520440"/>
            <a:ext cx="3657600" cy="23774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229600" y="3520440"/>
            <a:ext cx="36576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7" name="Text 65"/>
          <p:cNvSpPr/>
          <p:nvPr/>
        </p:nvSpPr>
        <p:spPr>
          <a:xfrm>
            <a:off x="83210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💎</a:t>
            </a:r>
            <a:endParaRPr lang="en-US" sz="2400" dirty="0"/>
          </a:p>
        </p:txBody>
      </p:sp>
      <p:sp>
        <p:nvSpPr>
          <p:cNvPr id="68" name="Text 66"/>
          <p:cNvSpPr/>
          <p:nvPr/>
        </p:nvSpPr>
        <p:spPr>
          <a:xfrm>
            <a:off x="877824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Exotic Derivatives Pricing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412480" y="420624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0" name="Text 68"/>
          <p:cNvSpPr/>
          <p:nvPr/>
        </p:nvSpPr>
        <p:spPr>
          <a:xfrm>
            <a:off x="859536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Variance swaps: E[∫v_t dt] = log CF moment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12480" y="459028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2" name="Text 70"/>
          <p:cNvSpPr/>
          <p:nvPr/>
        </p:nvSpPr>
        <p:spPr>
          <a:xfrm>
            <a:off x="8595360" y="4498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Corridor variance, weighted VIX futures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412480" y="497433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4" name="Text 72"/>
          <p:cNvSpPr/>
          <p:nvPr/>
        </p:nvSpPr>
        <p:spPr>
          <a:xfrm>
            <a:off x="8595360" y="4882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Barrier options via spectral factorization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412480" y="535838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6" name="Text 74"/>
          <p:cNvSpPr/>
          <p:nvPr/>
        </p:nvSpPr>
        <p:spPr>
          <a:xfrm>
            <a:off x="8595360" y="5266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Lookback options under Lévy processes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Python — 800+ lines, fully documented, extensible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005840"/>
            <a:ext cx="3931920" cy="59436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0" y="1005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StochasticModel  (Abstract Base Class)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1664208"/>
            <a:ext cx="3931920" cy="26517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66420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log_char_func(u)  [abstract]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956816"/>
            <a:ext cx="3931920" cy="26517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956816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price_carr_madan(strikes)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249424"/>
            <a:ext cx="3931920" cy="26517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249424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price_cos(strikes)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2542032"/>
            <a:ext cx="3931920" cy="26517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2542032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implied_vol_surface(strikes)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834640"/>
            <a:ext cx="3931920" cy="26517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83464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F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verify_martingale_condition()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1417320" cy="502920"/>
          </a:xfrm>
          <a:prstGeom prst="rect">
            <a:avLst/>
          </a:prstGeom>
          <a:solidFill>
            <a:srgbClr val="A8BFCE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BSM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3127248"/>
            <a:ext cx="18288" cy="347472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21" name="Shape 19"/>
          <p:cNvSpPr/>
          <p:nvPr/>
        </p:nvSpPr>
        <p:spPr>
          <a:xfrm>
            <a:off x="2011680" y="3474720"/>
            <a:ext cx="1417320" cy="502920"/>
          </a:xfrm>
          <a:prstGeom prst="rect">
            <a:avLst/>
          </a:prstGeom>
          <a:solidFill>
            <a:srgbClr val="0070C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1168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Heston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97480" y="3127248"/>
            <a:ext cx="18288" cy="347472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24" name="Shape 22"/>
          <p:cNvSpPr/>
          <p:nvPr/>
        </p:nvSpPr>
        <p:spPr>
          <a:xfrm>
            <a:off x="3566160" y="3474720"/>
            <a:ext cx="1417320" cy="50292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VG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51960" y="3127248"/>
            <a:ext cx="18288" cy="347472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0640" y="3474720"/>
            <a:ext cx="1417320" cy="50292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CGMY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06440" y="3127248"/>
            <a:ext cx="18288" cy="347472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30" name="Shape 28"/>
          <p:cNvSpPr/>
          <p:nvPr/>
        </p:nvSpPr>
        <p:spPr>
          <a:xfrm>
            <a:off x="6675120" y="3474720"/>
            <a:ext cx="1417320" cy="50292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7512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NIG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60920" y="3127248"/>
            <a:ext cx="18288" cy="347472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3474720"/>
            <a:ext cx="1417320" cy="50292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0" y="3474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5"/>
                </a:solidFill>
              </a:rPr>
              <a:t>MJD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15400" y="3127248"/>
            <a:ext cx="18288" cy="347472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000" y="3127248"/>
            <a:ext cx="7772400" cy="18288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37" name="Shape 35"/>
          <p:cNvSpPr/>
          <p:nvPr/>
        </p:nvSpPr>
        <p:spPr>
          <a:xfrm>
            <a:off x="9875520" y="1005840"/>
            <a:ext cx="2194560" cy="11887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875520" y="1005840"/>
            <a:ext cx="45720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10012680" y="11155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CalibrationEngine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12680" y="140817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Vega-weighted objective / Differential Evolution + L-BFGS-B / Multi-model support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75520" y="2331720"/>
            <a:ext cx="2194560" cy="11887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875520" y="2331720"/>
            <a:ext cx="45720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3" name="Text 41"/>
          <p:cNvSpPr/>
          <p:nvPr/>
        </p:nvSpPr>
        <p:spPr>
          <a:xfrm>
            <a:off x="10012680" y="24414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FourierRiskAnalytics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12680" y="273405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 via Gil-Pelaez / Fourier Greeks / Risk-neutral density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875520" y="3657600"/>
            <a:ext cx="2194560" cy="11887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875520" y="3657600"/>
            <a:ext cx="45720" cy="1188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7" name="Text 45"/>
          <p:cNvSpPr/>
          <p:nvPr/>
        </p:nvSpPr>
        <p:spPr>
          <a:xfrm>
            <a:off x="10012680" y="37673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VolatilitySurface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012680" y="405993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construction / Butterfly arb check / Tenor interpolation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875520" y="4983480"/>
            <a:ext cx="2194560" cy="11887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875520" y="4983480"/>
            <a:ext cx="45720" cy="1188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51" name="Text 49"/>
          <p:cNvSpPr/>
          <p:nvPr/>
        </p:nvSpPr>
        <p:spPr>
          <a:xfrm>
            <a:off x="10012680" y="50932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MartingaleDiagnostics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012680" y="5385816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CF(-i) verification / Cumulant extraction / All-model report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5029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Dependencies: Python 3.10+  |  numpy  |  scipy  |  pandas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5303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fourier_martingale.py  —  Single-file implementation (~820 lines)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5760720"/>
            <a:ext cx="2926080" cy="5486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7200" y="5760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DC"/>
                </a:solidFill>
              </a:rPr>
              <a:t>SOLID Principles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566160" y="5760720"/>
            <a:ext cx="2926080" cy="5486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566160" y="5760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DC"/>
                </a:solidFill>
              </a:rPr>
              <a:t>DRY Design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75120" y="5760720"/>
            <a:ext cx="2926080" cy="5486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675120" y="5760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0DC"/>
                </a:solidFill>
              </a:rPr>
              <a:t>Fully Validated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65760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7AE60"/>
                </a:solidFill>
              </a:rPr>
              <a:t>&lt;5ms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Carr-Madan FFT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Full surface reprice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005840"/>
            <a:ext cx="365760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005840"/>
            <a:ext cx="365760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097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0C0"/>
                </a:solidFill>
              </a:rPr>
              <a:t>~0.3ms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34340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COS Method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128-point pricing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005840"/>
            <a:ext cx="365760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005840"/>
            <a:ext cx="36576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097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A623"/>
                </a:solidFill>
              </a:rPr>
              <a:t>4.2bps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229600" y="1920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Heston Cal. RMSE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Synthetic surface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65760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34640"/>
            <a:ext cx="3657600" cy="45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B59B6"/>
                </a:solidFill>
              </a:rPr>
              <a:t>100x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Speed vs MC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For CVaR precision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2834640"/>
            <a:ext cx="365760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2834640"/>
            <a:ext cx="3657600" cy="45720"/>
          </a:xfrm>
          <a:prstGeom prst="rect">
            <a:avLst/>
          </a:prstGeom>
          <a:solidFill>
            <a:srgbClr val="00A0DC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0DC"/>
                </a:solidFill>
              </a:rPr>
              <a:t>6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34340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Models Supported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One unified kernel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2834640"/>
            <a:ext cx="365760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2834640"/>
            <a:ext cx="3657600" cy="45720"/>
          </a:xfrm>
          <a:prstGeom prst="rect">
            <a:avLst/>
          </a:prstGeom>
          <a:solidFill>
            <a:srgbClr val="A8BFCE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926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BFCE"/>
                </a:solidFill>
              </a:rPr>
              <a:t>820+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822960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Lines of 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8BFCE"/>
                </a:solidFill>
              </a:rPr>
              <a:t>Production-ready Python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Pricing Accuracy: Fourier vs Closed-Form BSM (Control Variate)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51206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Strike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06624" y="51206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Closed-Form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56048" y="51206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Carr-Madan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51206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COS (N=128)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54896" y="51206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0DC"/>
                </a:solidFill>
              </a:rPr>
              <a:t>Max Error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3492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K=80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06624" y="53492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25.434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56048" y="53492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25.432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05472" y="53492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25.434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454896" y="53492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5778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K=90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06624" y="55778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17.082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56048" y="55778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17.083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05472" y="55778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17.082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454896" y="55778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58064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K=100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06624" y="58064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10.451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56048" y="58064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10.451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05472" y="58064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10.451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454896" y="58064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&lt;0.001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0350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K=110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06624" y="60350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5.841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56048" y="60350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5.842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05472" y="60350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5.841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454896" y="6035040"/>
            <a:ext cx="2249424" cy="22860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62636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K=120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06624" y="62636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2.953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56048" y="62636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2.953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05472" y="62636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2.953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454896" y="6263640"/>
            <a:ext cx="2249424" cy="228600"/>
          </a:xfrm>
          <a:prstGeom prst="rect">
            <a:avLst/>
          </a:prstGeom>
          <a:solidFill>
            <a:srgbClr val="0D1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&lt;0.001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CE"/>
                </a:solidFill>
              </a:rPr>
              <a:t>BSM model, S=100, K varies, r=5%, q=2%, T=1y, σ=20%. All prices in dollars.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457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" cy="53035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4"/>
          <p:cNvSpPr/>
          <p:nvPr/>
        </p:nvSpPr>
        <p:spPr>
          <a:xfrm rot="16200000">
            <a:off x="-1965960" y="3611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5"/>
                </a:solidFill>
              </a:rPr>
              <a:t>Near-Term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100584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005840"/>
            <a:ext cx="45720" cy="16459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1155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Volatility (rBergomi)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40817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Riccati ODE for CF under H &lt; ½ Hurst. Captures short-term skew with fewer parameters.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78892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2788920"/>
            <a:ext cx="45720" cy="16459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8986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FFT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19125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cuFFT on CUDA for sub-millisecond surface reprice across 10K strikes simultaneously.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457200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4572000"/>
            <a:ext cx="45720" cy="164592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6817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Lévy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97433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Carr-Wu (2004) framework: time-change with stochastic clock correlated to asset.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960120"/>
            <a:ext cx="457200" cy="5303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 rot="16200000">
            <a:off x="1920240" y="3611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5"/>
                </a:solidFill>
              </a:rPr>
              <a:t>Medium-Term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00584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1005840"/>
            <a:ext cx="45720" cy="1645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1155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Fourier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140817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Copula-based joint CF for multi-asset derivatives. Basket options via Fourier integral decomposition.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78892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788920"/>
            <a:ext cx="45720" cy="1645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8986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Path-Dependent Options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19125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factorization for barrier options; Hilbert transform for digital options.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457200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4572000"/>
            <a:ext cx="45720" cy="1645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6817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CF Surrogate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497433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map θ → log φ(u) for 10,000x calibration speedup while preserving martingale property.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960120"/>
            <a:ext cx="457200" cy="5303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 rot="16200000">
            <a:off x="5806440" y="3611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5"/>
                </a:solidFill>
              </a:rPr>
              <a:t>Research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78240" y="100584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778240" y="1005840"/>
            <a:ext cx="45720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8915400" y="11155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Transport &amp; Vol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15400" y="140817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between Wasserstein distance on risk-neutral densities and vol surface interpolation.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78240" y="278892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778240" y="2788920"/>
            <a:ext cx="45720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8915400" y="28986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Methods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915400" y="319125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path signatures as generalized characteristic functions for path-dependent distributions.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778240" y="4572000"/>
            <a:ext cx="32004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778240" y="4572000"/>
            <a:ext cx="45720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5" name="Text 43"/>
          <p:cNvSpPr/>
          <p:nvPr/>
        </p:nvSpPr>
        <p:spPr>
          <a:xfrm>
            <a:off x="8915400" y="46817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&amp; Microstructure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915400" y="4974336"/>
            <a:ext cx="2971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CGMY/NIG under non-semimartingale regimes; Fourier methods for tick-by-tick price distributions.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57200"/>
            <a:ext cx="5029200" cy="5029200"/>
          </a:xfrm>
          <a:prstGeom prst="ellipse">
            <a:avLst/>
          </a:prstGeom>
          <a:solidFill>
            <a:srgbClr val="0070C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914400"/>
            <a:ext cx="4572000" cy="4572000"/>
          </a:xfrm>
          <a:prstGeom prst="ellipse">
            <a:avLst/>
          </a:prstGeom>
          <a:solidFill>
            <a:srgbClr val="0070C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1371600"/>
            <a:ext cx="4114800" cy="4114800"/>
          </a:xfrm>
          <a:prstGeom prst="ellipse">
            <a:avLst/>
          </a:prstGeom>
          <a:solidFill>
            <a:srgbClr val="0070C0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1828800"/>
            <a:ext cx="3657600" cy="3657600"/>
          </a:xfrm>
          <a:prstGeom prst="ellipse">
            <a:avLst/>
          </a:prstGeom>
          <a:solidFill>
            <a:srgbClr val="0070C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2286000"/>
            <a:ext cx="3200400" cy="3200400"/>
          </a:xfrm>
          <a:prstGeom prst="ellipse">
            <a:avLst/>
          </a:prstGeom>
          <a:solidFill>
            <a:srgbClr val="0070C0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2743200"/>
            <a:ext cx="2743200" cy="2743200"/>
          </a:xfrm>
          <a:prstGeom prst="ellipse">
            <a:avLst/>
          </a:prstGeom>
          <a:solidFill>
            <a:srgbClr val="0070C0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3200400"/>
            <a:ext cx="2286000" cy="2286000"/>
          </a:xfrm>
          <a:prstGeom prst="ellipse">
            <a:avLst/>
          </a:prstGeom>
          <a:solidFill>
            <a:srgbClr val="0070C0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3657600"/>
            <a:ext cx="1828800" cy="1828800"/>
          </a:xfrm>
          <a:prstGeom prst="ellipse">
            <a:avLst/>
          </a:prstGeom>
          <a:solidFill>
            <a:srgbClr val="0070C0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600" kern="0" dirty="0">
                <a:solidFill>
                  <a:srgbClr val="00A0DC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731520" y="1691640"/>
            <a:ext cx="2743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011680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The characteristic function φ(u) of log(S_T) fully determines all European option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prices via Fourier inversion — eliminating the need for density computation.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2816352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7249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The martingale constraint φ(-i) = e^{(r-q)T} is the single mathematical condition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that makes risk-neutral pricing consistent — and it is verifiable in one line of code.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621024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295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The Carr-Madan FFT and COS algorithms compute option prices across the entire strike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surface in &lt;5ms with sub-basis-point accuracy — making real-time surface maintenance feasible.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425696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3342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Six distinct stochastic models all reduce to choosing the characteristic triplet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(b, σ², ν) — diffusion, stochastic volatility, Lévy jump, or jump-diffusion.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5230368"/>
            <a:ext cx="91440" cy="9144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389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Calibration RMSE below 4 basis points (Heston) confirms that Fourier-based engines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8BFCE"/>
                </a:solidFill>
              </a:rPr>
              <a:t>meet or exceed practitioner accuracy standards at quantitative trading firms.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6035040"/>
            <a:ext cx="5029200" cy="5486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FCE"/>
                </a:solidFill>
              </a:rPr>
              <a:t>Quantitative Research Division  |  March 2025  |  Version 2.0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Fourier Transformation of Martingales</dc:title>
  <dc:subject>PptxGenJS Presentation</dc:subject>
  <dc:creator>Quantitative Research Division</dc:creator>
  <cp:lastModifiedBy>Quantitative Research Division</cp:lastModifiedBy>
  <cp:revision>1</cp:revision>
  <dcterms:created xsi:type="dcterms:W3CDTF">2026-03-14T01:21:02Z</dcterms:created>
  <dcterms:modified xsi:type="dcterms:W3CDTF">2026-03-14T01:21:02Z</dcterms:modified>
</cp:coreProperties>
</file>